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909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914400"/>
            <a:ext cx="73152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0" b="1" i="0">
                <a:solidFill>
                  <a:srgbClr val="FFFFFF"/>
                </a:solidFill>
                <a:latin typeface="Barlow Condensed"/>
              </a:rPr>
              <a:t>MotoHub Pro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283464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AAAAAA"/>
                </a:solidFill>
                <a:latin typeface="Barlow Condensed"/>
              </a:rPr>
              <a:t>Application web de gestion de moto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3566160"/>
            <a:ext cx="1737360" cy="411480"/>
          </a:xfrm>
          <a:prstGeom prst="rect">
            <a:avLst/>
          </a:prstGeom>
          <a:solidFill>
            <a:srgbClr val="1A1A1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3593592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CC0000"/>
                </a:solidFill>
                <a:latin typeface="Barlow Condensed"/>
              </a:rPr>
              <a:t>Next.js 14</a:t>
            </a:r>
          </a:p>
        </p:txBody>
      </p:sp>
      <p:sp>
        <p:nvSpPr>
          <p:cNvPr id="9" name="Rectangle 8"/>
          <p:cNvSpPr/>
          <p:nvPr/>
        </p:nvSpPr>
        <p:spPr>
          <a:xfrm>
            <a:off x="2103120" y="3566160"/>
            <a:ext cx="1737360" cy="411480"/>
          </a:xfrm>
          <a:prstGeom prst="rect">
            <a:avLst/>
          </a:prstGeom>
          <a:solidFill>
            <a:srgbClr val="1A1A1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148840" y="3593592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CC0000"/>
                </a:solidFill>
                <a:latin typeface="Barlow Condensed"/>
              </a:rPr>
              <a:t>TypeScript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931920" y="3566160"/>
            <a:ext cx="1737360" cy="411480"/>
          </a:xfrm>
          <a:prstGeom prst="rect">
            <a:avLst/>
          </a:prstGeom>
          <a:solidFill>
            <a:srgbClr val="1A1A1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977640" y="3593592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CC0000"/>
                </a:solidFill>
                <a:latin typeface="Barlow Condensed"/>
              </a:rPr>
              <a:t>PostgreSQL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760720" y="3566160"/>
            <a:ext cx="1737360" cy="411480"/>
          </a:xfrm>
          <a:prstGeom prst="rect">
            <a:avLst/>
          </a:prstGeom>
          <a:solidFill>
            <a:srgbClr val="1A1A1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806440" y="3593592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CC0000"/>
                </a:solidFill>
                <a:latin typeface="Barlow Condensed"/>
              </a:rPr>
              <a:t>Prisma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589520" y="3566160"/>
            <a:ext cx="1737360" cy="411480"/>
          </a:xfrm>
          <a:prstGeom prst="rect">
            <a:avLst/>
          </a:prstGeom>
          <a:solidFill>
            <a:srgbClr val="1A1A1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635240" y="3593592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CC0000"/>
                </a:solidFill>
                <a:latin typeface="Barlow Condensed"/>
              </a:rPr>
              <a:t>Three.js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4114800"/>
            <a:ext cx="8686800" cy="18288"/>
          </a:xfrm>
          <a:prstGeom prst="rect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74320" y="42519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777777"/>
                </a:solidFill>
                <a:latin typeface="Barlow Condensed"/>
              </a:rPr>
              <a:t>Projet de Fin d'Études  •  Bloc 1 — Cadrage de projet  •  RNCP 39583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909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64592" y="0"/>
            <a:ext cx="12188952" cy="347472"/>
          </a:xfrm>
          <a:prstGeom prst="rect">
            <a:avLst/>
          </a:prstGeom>
          <a:solidFill>
            <a:srgbClr val="1818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54864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CC0000"/>
                </a:solidFill>
                <a:latin typeface="Barlow Condensed"/>
              </a:rPr>
              <a:t>C1.1.1 — CARTOGRAPHIE DES PARTIES PRENANTES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1168" y="411480"/>
            <a:ext cx="11704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Barlow Condensed"/>
              </a:rPr>
              <a:t>Qui est impliqué dans le projet ?</a:t>
            </a:r>
          </a:p>
        </p:txBody>
      </p:sp>
      <p:sp>
        <p:nvSpPr>
          <p:cNvPr id="7" name="Rectangle 6"/>
          <p:cNvSpPr/>
          <p:nvPr/>
        </p:nvSpPr>
        <p:spPr>
          <a:xfrm>
            <a:off x="201168" y="1417320"/>
            <a:ext cx="2194560" cy="4663440"/>
          </a:xfrm>
          <a:prstGeom prst="rect">
            <a:avLst/>
          </a:prstGeom>
          <a:solidFill>
            <a:srgbClr val="222222"/>
          </a:solidFill>
          <a:ln w="9525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01168" y="1417320"/>
            <a:ext cx="2194560" cy="347472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92608" y="1453896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Barlow Condensed"/>
              </a:rPr>
              <a:t>Commanditaire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2608" y="1874519"/>
            <a:ext cx="20116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100">
                <a:solidFill>
                  <a:srgbClr val="AAAAAA"/>
                </a:solidFill>
                <a:latin typeface="Barlow Condensed"/>
              </a:rPr>
              <a:t>MotoClub Alpes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AAAAAA"/>
                </a:solidFill>
                <a:latin typeface="Barlow Condensed"/>
              </a:rPr>
              <a:t>Marc Duvalier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AAAAAA"/>
                </a:solidFill>
                <a:latin typeface="Barlow Condensed"/>
              </a:rPr>
              <a:t>Vision produit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AAAAAA"/>
                </a:solidFill>
                <a:latin typeface="Barlow Condensed"/>
              </a:rPr>
              <a:t>Validation finale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487168" y="1417320"/>
            <a:ext cx="2194560" cy="4663440"/>
          </a:xfrm>
          <a:prstGeom prst="rect">
            <a:avLst/>
          </a:prstGeom>
          <a:solidFill>
            <a:srgbClr val="222222"/>
          </a:solidFill>
          <a:ln w="9525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487168" y="1417320"/>
            <a:ext cx="2194560" cy="347472"/>
          </a:xfrm>
          <a:prstGeom prst="rect">
            <a:avLst/>
          </a:prstGeom>
          <a:solidFill>
            <a:srgbClr val="2255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578608" y="1453896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Barlow Condensed"/>
              </a:rPr>
              <a:t>Équipe projet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78608" y="1874519"/>
            <a:ext cx="20116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100">
                <a:solidFill>
                  <a:srgbClr val="AAAAAA"/>
                </a:solidFill>
                <a:latin typeface="Barlow Condensed"/>
              </a:rPr>
              <a:t>Luca S. — Lead dev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AAAAAA"/>
                </a:solidFill>
                <a:latin typeface="Barlow Condensed"/>
              </a:rPr>
              <a:t>Thomas R. — Backend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AAAAAA"/>
                </a:solidFill>
                <a:latin typeface="Barlow Condensed"/>
              </a:rPr>
              <a:t>Sarah M. — Frontend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AAAAAA"/>
                </a:solidFill>
                <a:latin typeface="Barlow Condensed"/>
              </a:rPr>
              <a:t>Karim B. — Design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AAAAAA"/>
                </a:solidFill>
                <a:latin typeface="Barlow Condensed"/>
              </a:rPr>
              <a:t>Julie F. — QA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773168" y="1417320"/>
            <a:ext cx="2194560" cy="4663440"/>
          </a:xfrm>
          <a:prstGeom prst="rect">
            <a:avLst/>
          </a:prstGeom>
          <a:solidFill>
            <a:srgbClr val="222222"/>
          </a:solidFill>
          <a:ln w="9525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773168" y="1417320"/>
            <a:ext cx="2194560" cy="347472"/>
          </a:xfrm>
          <a:prstGeom prst="rect">
            <a:avLst/>
          </a:prstGeom>
          <a:solidFill>
            <a:srgbClr val="2288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864608" y="1453896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Barlow Condensed"/>
              </a:rPr>
              <a:t>Utilisateurs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64608" y="1874519"/>
            <a:ext cx="20116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100">
                <a:solidFill>
                  <a:srgbClr val="AAAAAA"/>
                </a:solidFill>
                <a:latin typeface="Barlow Condensed"/>
              </a:rPr>
              <a:t>Motards 18-45 ans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AAAAAA"/>
                </a:solidFill>
                <a:latin typeface="Barlow Condensed"/>
              </a:rPr>
              <a:t>1 à 3 motos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AAAAAA"/>
                </a:solidFill>
                <a:latin typeface="Barlow Condensed"/>
              </a:rPr>
              <a:t>Suivi entretien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AAAAAA"/>
                </a:solidFill>
                <a:latin typeface="Barlow Condensed"/>
              </a:rPr>
              <a:t>Recherche pièces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059168" y="1417320"/>
            <a:ext cx="2194560" cy="4663440"/>
          </a:xfrm>
          <a:prstGeom prst="rect">
            <a:avLst/>
          </a:prstGeom>
          <a:solidFill>
            <a:srgbClr val="222222"/>
          </a:solidFill>
          <a:ln w="9525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059168" y="1417320"/>
            <a:ext cx="2194560" cy="347472"/>
          </a:xfrm>
          <a:prstGeom prst="rect">
            <a:avLst/>
          </a:prstGeom>
          <a:solidFill>
            <a:srgbClr val="CC7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150608" y="1453896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Barlow Condensed"/>
              </a:rPr>
              <a:t>Admin système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50608" y="1874519"/>
            <a:ext cx="20116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100">
                <a:solidFill>
                  <a:srgbClr val="AAAAAA"/>
                </a:solidFill>
                <a:latin typeface="Barlow Condensed"/>
              </a:rPr>
              <a:t>Infrastructure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AAAAAA"/>
                </a:solidFill>
                <a:latin typeface="Barlow Condensed"/>
              </a:rPr>
              <a:t>PostgreSQL Docker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AAAAAA"/>
                </a:solidFill>
                <a:latin typeface="Barlow Condensed"/>
              </a:rPr>
              <a:t>CI/CD GitHub Actions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AAAAAA"/>
                </a:solidFill>
                <a:latin typeface="Barlow Condensed"/>
              </a:rPr>
              <a:t>Monitoring /health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345168" y="1417320"/>
            <a:ext cx="2194560" cy="4663440"/>
          </a:xfrm>
          <a:prstGeom prst="rect">
            <a:avLst/>
          </a:prstGeom>
          <a:solidFill>
            <a:srgbClr val="222222"/>
          </a:solidFill>
          <a:ln w="9525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345168" y="1417320"/>
            <a:ext cx="2194560" cy="347472"/>
          </a:xfrm>
          <a:prstGeom prst="rect">
            <a:avLst/>
          </a:prstGeom>
          <a:solidFill>
            <a:srgbClr val="6633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436608" y="1453896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Barlow Condensed"/>
              </a:rPr>
              <a:t>APIs externes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36608" y="1874519"/>
            <a:ext cx="20116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100">
                <a:solidFill>
                  <a:srgbClr val="AAAAAA"/>
                </a:solidFill>
                <a:latin typeface="Barlow Condensed"/>
              </a:rPr>
              <a:t>NHTSA (modèles)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AAAAAA"/>
                </a:solidFill>
                <a:latin typeface="Barlow Condensed"/>
              </a:rPr>
              <a:t>Google News RSS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AAAAAA"/>
                </a:solidFill>
                <a:latin typeface="Barlow Condensed"/>
              </a:rPr>
              <a:t>eBay / LBC / Amazon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AAAAAA"/>
                </a:solidFill>
                <a:latin typeface="Barlow Condensed"/>
              </a:rPr>
              <a:t>wttr.in (météo)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01168" y="6309360"/>
            <a:ext cx="11704320" cy="411480"/>
          </a:xfrm>
          <a:prstGeom prst="rect">
            <a:avLst/>
          </a:prstGeom>
          <a:solidFill>
            <a:srgbClr val="181818"/>
          </a:solidFill>
          <a:ln w="9525">
            <a:solidFill>
              <a:srgbClr val="CC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20040" y="632764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AAAAA"/>
                </a:solidFill>
                <a:latin typeface="Barlow Condensed"/>
              </a:rPr>
              <a:t>Utilisateurs cibles : motards 18-45 ans, propriétaires de 1 à 3 motos, suivant régulièrement leurs entretiens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909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64592" y="0"/>
            <a:ext cx="12188952" cy="347472"/>
          </a:xfrm>
          <a:prstGeom prst="rect">
            <a:avLst/>
          </a:prstGeom>
          <a:solidFill>
            <a:srgbClr val="1818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54864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CC0000"/>
                </a:solidFill>
                <a:latin typeface="Barlow Condensed"/>
              </a:rPr>
              <a:t>C1.1.2 — ANALYSE DE LA DEMANDE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1168" y="411480"/>
            <a:ext cx="11704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Barlow Condensed"/>
              </a:rPr>
              <a:t>Problématique &amp; objectifs</a:t>
            </a:r>
          </a:p>
        </p:txBody>
      </p:sp>
      <p:sp>
        <p:nvSpPr>
          <p:cNvPr id="7" name="Rectangle 6"/>
          <p:cNvSpPr/>
          <p:nvPr/>
        </p:nvSpPr>
        <p:spPr>
          <a:xfrm>
            <a:off x="201168" y="1463040"/>
            <a:ext cx="11704320" cy="822960"/>
          </a:xfrm>
          <a:prstGeom prst="rect">
            <a:avLst/>
          </a:prstGeom>
          <a:solidFill>
            <a:srgbClr val="151515"/>
          </a:solidFill>
          <a:ln w="12700">
            <a:solidFill>
              <a:srgbClr val="CC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148132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C0000"/>
                </a:solidFill>
                <a:latin typeface="Barlow Condensed"/>
              </a:rPr>
              <a:t>Problématique client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173736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AAAA"/>
                </a:solidFill>
                <a:latin typeface="Barlow Condensed"/>
              </a:rPr>
              <a:t>Les motards n'ont aucun outil centralisé pour gérer leur garage, suivre les entretiens et accéder à l'information (actualités, pièces, météo) depuis une seule interface.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201168" y="2423160"/>
            <a:ext cx="3749039" cy="3749039"/>
          </a:xfrm>
          <a:prstGeom prst="rect">
            <a:avLst/>
          </a:prstGeom>
          <a:solidFill>
            <a:srgbClr val="222222"/>
          </a:solidFill>
          <a:ln w="9525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8328" y="2514600"/>
            <a:ext cx="731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CC0000"/>
                </a:solidFill>
                <a:latin typeface="Barlow Condensed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8328" y="3063240"/>
            <a:ext cx="347471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Barlow Condensed"/>
              </a:rPr>
              <a:t>Centraliser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8328" y="3520440"/>
            <a:ext cx="3474719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100">
                <a:solidFill>
                  <a:srgbClr val="AAAAAA"/>
                </a:solidFill>
                <a:latin typeface="Barlow Condensed"/>
              </a:rPr>
              <a:t>Un seul espace pour gérer plusieurs motos (garage virtuel) avec données complètes : marque, modèle, immat SIV, kilométrage, achat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069079" y="2423160"/>
            <a:ext cx="3749039" cy="3749039"/>
          </a:xfrm>
          <a:prstGeom prst="rect">
            <a:avLst/>
          </a:prstGeom>
          <a:solidFill>
            <a:srgbClr val="222222"/>
          </a:solidFill>
          <a:ln w="9525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206239" y="2514600"/>
            <a:ext cx="731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CC0000"/>
                </a:solidFill>
                <a:latin typeface="Barlow Condensed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06239" y="3063240"/>
            <a:ext cx="347471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Barlow Condensed"/>
              </a:rPr>
              <a:t>Tracer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06239" y="3520440"/>
            <a:ext cx="3474719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100">
                <a:solidFill>
                  <a:srgbClr val="AAAAAA"/>
                </a:solidFill>
                <a:latin typeface="Barlow Condensed"/>
              </a:rPr>
              <a:t>Historique des maintenances (vidange, pneus, freins, chaîne…) avec rappels et types d'entretien normalisés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936990" y="2423160"/>
            <a:ext cx="3749039" cy="3749039"/>
          </a:xfrm>
          <a:prstGeom prst="rect">
            <a:avLst/>
          </a:prstGeom>
          <a:solidFill>
            <a:srgbClr val="222222"/>
          </a:solidFill>
          <a:ln w="9525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74150" y="2514600"/>
            <a:ext cx="731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CC0000"/>
                </a:solidFill>
                <a:latin typeface="Barlow Condensed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74150" y="3063240"/>
            <a:ext cx="347471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Barlow Condensed"/>
              </a:rPr>
              <a:t>Informer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74150" y="3520440"/>
            <a:ext cx="3474719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100">
                <a:solidFill>
                  <a:srgbClr val="AAAAAA"/>
                </a:solidFill>
                <a:latin typeface="Barlow Condensed"/>
              </a:rPr>
              <a:t>Actualités RSS, pièces détachées multi-sources (eBay, LBC, Amazon), météo locale pour préparer les sorties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909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64592" y="0"/>
            <a:ext cx="12188952" cy="347472"/>
          </a:xfrm>
          <a:prstGeom prst="rect">
            <a:avLst/>
          </a:prstGeom>
          <a:solidFill>
            <a:srgbClr val="1818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54864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CC0000"/>
                </a:solidFill>
                <a:latin typeface="Barlow Condensed"/>
              </a:rPr>
              <a:t>C1.2.1 — OPPORTUNITÉS &amp; MENACES (SWOT)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1168" y="411480"/>
            <a:ext cx="11704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Barlow Condensed"/>
              </a:rPr>
              <a:t>Analyse SWOT du projet</a:t>
            </a:r>
          </a:p>
        </p:txBody>
      </p:sp>
      <p:sp>
        <p:nvSpPr>
          <p:cNvPr id="7" name="Rectangle 6"/>
          <p:cNvSpPr/>
          <p:nvPr/>
        </p:nvSpPr>
        <p:spPr>
          <a:xfrm>
            <a:off x="201168" y="1463040"/>
            <a:ext cx="5760720" cy="2377440"/>
          </a:xfrm>
          <a:prstGeom prst="rect">
            <a:avLst/>
          </a:prstGeom>
          <a:solidFill>
            <a:srgbClr val="222222"/>
          </a:solidFill>
          <a:ln w="9525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01168" y="1463040"/>
            <a:ext cx="5760720" cy="347472"/>
          </a:xfrm>
          <a:prstGeom prst="rect">
            <a:avLst/>
          </a:prstGeom>
          <a:solidFill>
            <a:srgbClr val="2288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92608" y="1499616"/>
            <a:ext cx="5577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Barlow Condensed"/>
              </a:rPr>
              <a:t>FORCES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8328" y="1920240"/>
            <a:ext cx="5486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100">
                <a:solidFill>
                  <a:srgbClr val="AAAAAA"/>
                </a:solidFill>
                <a:latin typeface="Barlow Condensed"/>
              </a:rPr>
              <a:t>Stack moderne Next.js 14 + TypeScript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AAAAAA"/>
                </a:solidFill>
                <a:latin typeface="Barlow Condensed"/>
              </a:rPr>
              <a:t>Auth JWT httpOnly — sécurisée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AAAAAA"/>
                </a:solidFill>
                <a:latin typeface="Barlow Condensed"/>
              </a:rPr>
              <a:t>Scène 3D différenciante (Ducati V4R)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AAAAAA"/>
                </a:solidFill>
                <a:latin typeface="Barlow Condensed"/>
              </a:rPr>
              <a:t>Validation stricte Zod côté client ET API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AAAAAA"/>
                </a:solidFill>
                <a:latin typeface="Barlow Condensed"/>
              </a:rPr>
              <a:t>31 tests unitaires Jest — CI/CD GitHub Actions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44768" y="1463040"/>
            <a:ext cx="5760720" cy="2377440"/>
          </a:xfrm>
          <a:prstGeom prst="rect">
            <a:avLst/>
          </a:prstGeom>
          <a:solidFill>
            <a:srgbClr val="222222"/>
          </a:solidFill>
          <a:ln w="9525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44768" y="1463040"/>
            <a:ext cx="5760720" cy="347472"/>
          </a:xfrm>
          <a:prstGeom prst="rect">
            <a:avLst/>
          </a:prstGeom>
          <a:solidFill>
            <a:srgbClr val="CC7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36208" y="1499616"/>
            <a:ext cx="5577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Barlow Condensed"/>
              </a:rPr>
              <a:t>FAIBLESSES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81928" y="1920240"/>
            <a:ext cx="5486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100">
                <a:solidFill>
                  <a:srgbClr val="AAAAAA"/>
                </a:solidFill>
                <a:latin typeface="Barlow Condensed"/>
              </a:rPr>
              <a:t>Auth maison (pas OAuth — Google/Apple)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AAAAAA"/>
                </a:solidFill>
                <a:latin typeface="Barlow Condensed"/>
              </a:rPr>
              <a:t>Pas d'app mobile native (PWA uniquement)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AAAAAA"/>
                </a:solidFill>
                <a:latin typeface="Barlow Condensed"/>
              </a:rPr>
              <a:t>Dépendance flux Google News RSS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AAAAAA"/>
                </a:solidFill>
                <a:latin typeface="Barlow Condensed"/>
              </a:rPr>
              <a:t>Pas encore déployé en production cloud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01168" y="3977639"/>
            <a:ext cx="5760720" cy="2377440"/>
          </a:xfrm>
          <a:prstGeom prst="rect">
            <a:avLst/>
          </a:prstGeom>
          <a:solidFill>
            <a:srgbClr val="222222"/>
          </a:solidFill>
          <a:ln w="9525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01168" y="3977639"/>
            <a:ext cx="5760720" cy="347472"/>
          </a:xfrm>
          <a:prstGeom prst="rect">
            <a:avLst/>
          </a:prstGeom>
          <a:solidFill>
            <a:srgbClr val="2255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92608" y="4014215"/>
            <a:ext cx="5577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Barlow Condensed"/>
              </a:rPr>
              <a:t>OPPORTUNITÉS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8328" y="4434839"/>
            <a:ext cx="5486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100">
                <a:solidFill>
                  <a:srgbClr val="AAAAAA"/>
                </a:solidFill>
                <a:latin typeface="Barlow Condensed"/>
              </a:rPr>
              <a:t>Marché moto en croissance (+7% France 2024)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AAAAAA"/>
                </a:solidFill>
                <a:latin typeface="Barlow Condensed"/>
              </a:rPr>
              <a:t>API NHTSA gratuite &amp; fiable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AAAAAA"/>
                </a:solidFill>
                <a:latin typeface="Barlow Condensed"/>
              </a:rPr>
              <a:t>12 marques chinoises émergentes intégrées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AAAAAA"/>
                </a:solidFill>
                <a:latin typeface="Barlow Condensed"/>
              </a:rPr>
              <a:t>Monétisation possible (abonnement premium)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44768" y="3977639"/>
            <a:ext cx="5760720" cy="2377440"/>
          </a:xfrm>
          <a:prstGeom prst="rect">
            <a:avLst/>
          </a:prstGeom>
          <a:solidFill>
            <a:srgbClr val="222222"/>
          </a:solidFill>
          <a:ln w="9525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44768" y="3977639"/>
            <a:ext cx="5760720" cy="347472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36208" y="4014215"/>
            <a:ext cx="5577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Barlow Condensed"/>
              </a:rPr>
              <a:t>MENACES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81928" y="4434839"/>
            <a:ext cx="5486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100">
                <a:solidFill>
                  <a:srgbClr val="AAAAAA"/>
                </a:solidFill>
                <a:latin typeface="Barlow Condensed"/>
              </a:rPr>
              <a:t>Google peut modifier ses flux RSS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AAAAAA"/>
                </a:solidFill>
                <a:latin typeface="Barlow Condensed"/>
              </a:rPr>
              <a:t>Concurrence (Mapit, BikeReg, CarnetMoto)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AAAAAA"/>
                </a:solidFill>
                <a:latin typeface="Barlow Condensed"/>
              </a:rPr>
              <a:t>Impact RGPD sur données utilisateurs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AAAAAA"/>
                </a:solidFill>
                <a:latin typeface="Barlow Condensed"/>
              </a:rPr>
              <a:t>Instabilité APIs tierces (eBay, Amazon)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909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64592" y="0"/>
            <a:ext cx="12188952" cy="347472"/>
          </a:xfrm>
          <a:prstGeom prst="rect">
            <a:avLst/>
          </a:prstGeom>
          <a:solidFill>
            <a:srgbClr val="1818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54864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CC0000"/>
                </a:solidFill>
                <a:latin typeface="Barlow Condensed"/>
              </a:rPr>
              <a:t>C1.2.2 — FAISABILITÉ TECHNIQUE &amp; AUDIT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1168" y="411480"/>
            <a:ext cx="11704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Barlow Condensed"/>
              </a:rPr>
              <a:t>Environnement technique</a:t>
            </a:r>
          </a:p>
        </p:txBody>
      </p:sp>
      <p:sp>
        <p:nvSpPr>
          <p:cNvPr id="7" name="Rectangle 6"/>
          <p:cNvSpPr/>
          <p:nvPr/>
        </p:nvSpPr>
        <p:spPr>
          <a:xfrm>
            <a:off x="201168" y="1463040"/>
            <a:ext cx="3749039" cy="4663440"/>
          </a:xfrm>
          <a:prstGeom prst="rect">
            <a:avLst/>
          </a:prstGeom>
          <a:solidFill>
            <a:srgbClr val="222222"/>
          </a:solidFill>
          <a:ln w="9525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01168" y="1463040"/>
            <a:ext cx="3749039" cy="347472"/>
          </a:xfrm>
          <a:prstGeom prst="rect">
            <a:avLst/>
          </a:prstGeom>
          <a:solidFill>
            <a:srgbClr val="2255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92608" y="1499616"/>
            <a:ext cx="356615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Barlow Condensed"/>
              </a:rPr>
              <a:t>Frontend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8328" y="1920240"/>
            <a:ext cx="3474719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200">
                <a:solidFill>
                  <a:srgbClr val="AAAAAA"/>
                </a:solidFill>
                <a:latin typeface="Barlow Condensed"/>
              </a:rPr>
              <a:t>Next.js 14 App Router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AAAAAA"/>
                </a:solidFill>
                <a:latin typeface="Barlow Condensed"/>
              </a:rPr>
              <a:t>TypeScript strict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AAAAAA"/>
                </a:solidFill>
                <a:latin typeface="Barlow Condensed"/>
              </a:rPr>
              <a:t>Tailwind CSS + shadcn/ui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AAAAAA"/>
                </a:solidFill>
                <a:latin typeface="Barlow Condensed"/>
              </a:rPr>
              <a:t>React Hook Form + Zod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AAAAAA"/>
                </a:solidFill>
                <a:latin typeface="Barlow Condensed"/>
              </a:rPr>
              <a:t>Three.js / R3F (3D)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AAAAAA"/>
                </a:solidFill>
                <a:latin typeface="Barlow Condensed"/>
              </a:rPr>
              <a:t>Recharts (graphiques)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069079" y="1463040"/>
            <a:ext cx="3749039" cy="4663440"/>
          </a:xfrm>
          <a:prstGeom prst="rect">
            <a:avLst/>
          </a:prstGeom>
          <a:solidFill>
            <a:srgbClr val="222222"/>
          </a:solidFill>
          <a:ln w="9525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069079" y="1463040"/>
            <a:ext cx="3749039" cy="347472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60519" y="1499616"/>
            <a:ext cx="356615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Barlow Condensed"/>
              </a:rPr>
              <a:t>Backend / API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06239" y="1920240"/>
            <a:ext cx="3474719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200">
                <a:solidFill>
                  <a:srgbClr val="AAAAAA"/>
                </a:solidFill>
                <a:latin typeface="Barlow Condensed"/>
              </a:rPr>
              <a:t>Next.js API Routes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AAAAAA"/>
                </a:solidFill>
                <a:latin typeface="Barlow Condensed"/>
              </a:rPr>
              <a:t>JWT Auth (httpOnly cookie)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AAAAAA"/>
                </a:solidFill>
                <a:latin typeface="Barlow Condensed"/>
              </a:rPr>
              <a:t>Prisma ORM + migrations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AAAAAA"/>
                </a:solidFill>
                <a:latin typeface="Barlow Condensed"/>
              </a:rPr>
              <a:t>NHTSA API (modèles, cache 24h)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AAAAAA"/>
                </a:solidFill>
                <a:latin typeface="Barlow Condensed"/>
              </a:rPr>
              <a:t>Google News RSS x4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AAAAAA"/>
                </a:solidFill>
                <a:latin typeface="Barlow Condensed"/>
              </a:rPr>
              <a:t>REST endpoints sécurisés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936990" y="1463040"/>
            <a:ext cx="3749039" cy="4663440"/>
          </a:xfrm>
          <a:prstGeom prst="rect">
            <a:avLst/>
          </a:prstGeom>
          <a:solidFill>
            <a:srgbClr val="222222"/>
          </a:solidFill>
          <a:ln w="9525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936990" y="1463040"/>
            <a:ext cx="3749039" cy="347472"/>
          </a:xfrm>
          <a:prstGeom prst="rect">
            <a:avLst/>
          </a:prstGeom>
          <a:solidFill>
            <a:srgbClr val="2288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28430" y="1499616"/>
            <a:ext cx="356615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Barlow Condensed"/>
              </a:rPr>
              <a:t>Infrastructure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74150" y="1920240"/>
            <a:ext cx="3474719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200">
                <a:solidFill>
                  <a:srgbClr val="AAAAAA"/>
                </a:solidFill>
                <a:latin typeface="Barlow Condensed"/>
              </a:rPr>
              <a:t>PostgreSQL 15 (Docker)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AAAAAA"/>
                </a:solidFill>
                <a:latin typeface="Barlow Condensed"/>
              </a:rPr>
              <a:t>Adminer (port 8080)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AAAAAA"/>
                </a:solidFill>
                <a:latin typeface="Barlow Condensed"/>
              </a:rPr>
              <a:t>docker-compose.yml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AAAAAA"/>
                </a:solidFill>
                <a:latin typeface="Barlow Condensed"/>
              </a:rPr>
              <a:t>GitHub Actions CI/CD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AAAAAA"/>
                </a:solidFill>
                <a:latin typeface="Barlow Condensed"/>
              </a:rPr>
              <a:t>Winston logger + /api/health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AAAAAA"/>
                </a:solidFill>
                <a:latin typeface="Barlow Condensed"/>
              </a:rPr>
              <a:t>Prêt déploiement Vercel/Neon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01168" y="6309360"/>
            <a:ext cx="11704320" cy="411480"/>
          </a:xfrm>
          <a:prstGeom prst="rect">
            <a:avLst/>
          </a:prstGeom>
          <a:solidFill>
            <a:srgbClr val="181818"/>
          </a:solidFill>
          <a:ln w="9525">
            <a:solidFill>
              <a:srgbClr val="CC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20040" y="632764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AAAAA"/>
                </a:solidFill>
                <a:latin typeface="Barlow Condensed"/>
              </a:rPr>
              <a:t>Contraintes : hébergement cloud requis, &lt; 10 000 utilisateurs estimés, délai 6 semaines, équipe 5 personnes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909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64592" y="0"/>
            <a:ext cx="12188952" cy="347472"/>
          </a:xfrm>
          <a:prstGeom prst="rect">
            <a:avLst/>
          </a:prstGeom>
          <a:solidFill>
            <a:srgbClr val="1818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54864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CC0000"/>
                </a:solidFill>
                <a:latin typeface="Barlow Condensed"/>
              </a:rPr>
              <a:t>C1.5 — ARCHITECTURE LOGICIELLE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1168" y="411480"/>
            <a:ext cx="11704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Barlow Condensed"/>
              </a:rPr>
              <a:t>Architecture Next.js App Router</a:t>
            </a:r>
          </a:p>
        </p:txBody>
      </p:sp>
      <p:sp>
        <p:nvSpPr>
          <p:cNvPr id="7" name="Rectangle 6"/>
          <p:cNvSpPr/>
          <p:nvPr/>
        </p:nvSpPr>
        <p:spPr>
          <a:xfrm>
            <a:off x="201168" y="1417320"/>
            <a:ext cx="11704320" cy="1371600"/>
          </a:xfrm>
          <a:prstGeom prst="rect">
            <a:avLst/>
          </a:prstGeom>
          <a:solidFill>
            <a:srgbClr val="1A223A"/>
          </a:solidFill>
          <a:ln w="9525">
            <a:solidFill>
              <a:srgbClr val="2255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1444752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255AA"/>
                </a:solidFill>
                <a:latin typeface="Barlow Condensed"/>
              </a:rPr>
              <a:t>COUCHE CLIENT — Navigateur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1719072"/>
            <a:ext cx="1536192" cy="868680"/>
          </a:xfrm>
          <a:prstGeom prst="rect">
            <a:avLst/>
          </a:prstGeom>
          <a:solidFill>
            <a:srgbClr val="1E3055"/>
          </a:solidFill>
          <a:ln w="6350">
            <a:solidFill>
              <a:srgbClr val="2255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1737360"/>
            <a:ext cx="14447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Barlow Condensed"/>
              </a:rPr>
              <a:t>/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2029968"/>
            <a:ext cx="14447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AAAAAA"/>
                </a:solidFill>
                <a:latin typeface="Barlow Condensed"/>
              </a:rPr>
              <a:t>Landing 3D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920240" y="1719072"/>
            <a:ext cx="1536192" cy="868680"/>
          </a:xfrm>
          <a:prstGeom prst="rect">
            <a:avLst/>
          </a:prstGeom>
          <a:solidFill>
            <a:srgbClr val="1E3055"/>
          </a:solidFill>
          <a:ln w="6350">
            <a:solidFill>
              <a:srgbClr val="2255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965960" y="1737360"/>
            <a:ext cx="14447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Barlow Condensed"/>
              </a:rPr>
              <a:t>/garage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65960" y="2029968"/>
            <a:ext cx="14447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AAAAAA"/>
                </a:solidFill>
                <a:latin typeface="Barlow Condensed"/>
              </a:rPr>
              <a:t>Liste motos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20440" y="1719072"/>
            <a:ext cx="1536192" cy="868680"/>
          </a:xfrm>
          <a:prstGeom prst="rect">
            <a:avLst/>
          </a:prstGeom>
          <a:solidFill>
            <a:srgbClr val="1E3055"/>
          </a:solidFill>
          <a:ln w="6350">
            <a:solidFill>
              <a:srgbClr val="2255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66160" y="1737360"/>
            <a:ext cx="14447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Barlow Condensed"/>
              </a:rPr>
              <a:t>/dashboard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66160" y="2029968"/>
            <a:ext cx="14447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AAAAAA"/>
                </a:solidFill>
                <a:latin typeface="Barlow Condensed"/>
              </a:rPr>
              <a:t>Tableau bord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120640" y="1719072"/>
            <a:ext cx="1536192" cy="868680"/>
          </a:xfrm>
          <a:prstGeom prst="rect">
            <a:avLst/>
          </a:prstGeom>
          <a:solidFill>
            <a:srgbClr val="1E3055"/>
          </a:solidFill>
          <a:ln w="6350">
            <a:solidFill>
              <a:srgbClr val="2255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166360" y="1737360"/>
            <a:ext cx="14447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Barlow Condensed"/>
              </a:rPr>
              <a:t>/maintenance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66360" y="2029968"/>
            <a:ext cx="14447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AAAAAA"/>
                </a:solidFill>
                <a:latin typeface="Barlow Condensed"/>
              </a:rPr>
              <a:t>Historique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720840" y="1719072"/>
            <a:ext cx="1536192" cy="868680"/>
          </a:xfrm>
          <a:prstGeom prst="rect">
            <a:avLst/>
          </a:prstGeom>
          <a:solidFill>
            <a:srgbClr val="1E3055"/>
          </a:solidFill>
          <a:ln w="6350">
            <a:solidFill>
              <a:srgbClr val="2255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766560" y="1737360"/>
            <a:ext cx="14447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Barlow Condensed"/>
              </a:rPr>
              <a:t>/news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66560" y="2029968"/>
            <a:ext cx="14447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AAAAAA"/>
                </a:solidFill>
                <a:latin typeface="Barlow Condensed"/>
              </a:rPr>
              <a:t>Actualités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321040" y="1719072"/>
            <a:ext cx="1536192" cy="868680"/>
          </a:xfrm>
          <a:prstGeom prst="rect">
            <a:avLst/>
          </a:prstGeom>
          <a:solidFill>
            <a:srgbClr val="1E3055"/>
          </a:solidFill>
          <a:ln w="6350">
            <a:solidFill>
              <a:srgbClr val="2255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366760" y="1737360"/>
            <a:ext cx="14447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Barlow Condensed"/>
              </a:rPr>
              <a:t>/pieces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66760" y="2029968"/>
            <a:ext cx="14447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AAAAAA"/>
                </a:solidFill>
                <a:latin typeface="Barlow Condensed"/>
              </a:rPr>
              <a:t>Pièces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921240" y="1719072"/>
            <a:ext cx="1536192" cy="868680"/>
          </a:xfrm>
          <a:prstGeom prst="rect">
            <a:avLst/>
          </a:prstGeom>
          <a:solidFill>
            <a:srgbClr val="1E3055"/>
          </a:solidFill>
          <a:ln w="6350">
            <a:solidFill>
              <a:srgbClr val="2255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966960" y="1737360"/>
            <a:ext cx="14447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Barlow Condensed"/>
              </a:rPr>
              <a:t>/weather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966960" y="2029968"/>
            <a:ext cx="14447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AAAAAA"/>
                </a:solidFill>
                <a:latin typeface="Barlow Condensed"/>
              </a:rPr>
              <a:t>Météo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0" y="2834640"/>
            <a:ext cx="121889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AAAAAA"/>
                </a:solidFill>
                <a:latin typeface="Barlow Condensed"/>
              </a:rPr>
              <a:t>▼  API Routes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01168" y="3090672"/>
            <a:ext cx="11704320" cy="1371600"/>
          </a:xfrm>
          <a:prstGeom prst="rect">
            <a:avLst/>
          </a:prstGeom>
          <a:solidFill>
            <a:srgbClr val="2A1010"/>
          </a:solidFill>
          <a:ln w="9525">
            <a:solidFill>
              <a:srgbClr val="CC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20040" y="31089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CC0000"/>
                </a:solidFill>
                <a:latin typeface="Barlow Condensed"/>
              </a:rPr>
              <a:t>COUCHE API — Next.js API Routes + JWT Auth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20040" y="3401568"/>
            <a:ext cx="3703320" cy="320040"/>
          </a:xfrm>
          <a:prstGeom prst="rect">
            <a:avLst/>
          </a:prstGeom>
          <a:solidFill>
            <a:srgbClr val="3A1818"/>
          </a:solidFill>
          <a:ln w="6350">
            <a:solidFill>
              <a:srgbClr val="66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93192" y="3438144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8888"/>
                </a:solidFill>
                <a:latin typeface="Barlow Condensed"/>
              </a:rPr>
              <a:t>POST /api/auth/register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160520" y="3401568"/>
            <a:ext cx="3703320" cy="320040"/>
          </a:xfrm>
          <a:prstGeom prst="rect">
            <a:avLst/>
          </a:prstGeom>
          <a:solidFill>
            <a:srgbClr val="3A1818"/>
          </a:solidFill>
          <a:ln w="6350">
            <a:solidFill>
              <a:srgbClr val="66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233672" y="3438144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8888"/>
                </a:solidFill>
                <a:latin typeface="Barlow Condensed"/>
              </a:rPr>
              <a:t>POST /api/auth/login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001000" y="3401568"/>
            <a:ext cx="3703320" cy="320040"/>
          </a:xfrm>
          <a:prstGeom prst="rect">
            <a:avLst/>
          </a:prstGeom>
          <a:solidFill>
            <a:srgbClr val="3A1818"/>
          </a:solidFill>
          <a:ln w="6350">
            <a:solidFill>
              <a:srgbClr val="66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074152" y="3438144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8888"/>
                </a:solidFill>
                <a:latin typeface="Barlow Condensed"/>
              </a:rPr>
              <a:t>GET·POST /api/motorcycles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1841480" y="3401568"/>
            <a:ext cx="3703320" cy="320040"/>
          </a:xfrm>
          <a:prstGeom prst="rect">
            <a:avLst/>
          </a:prstGeom>
          <a:solidFill>
            <a:srgbClr val="3A1818"/>
          </a:solidFill>
          <a:ln w="6350">
            <a:solidFill>
              <a:srgbClr val="66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914632" y="3438144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8888"/>
                </a:solidFill>
                <a:latin typeface="Barlow Condensed"/>
              </a:rPr>
              <a:t>PATCH /api/motorcycles/[id]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5681960" y="3401568"/>
            <a:ext cx="3703320" cy="320040"/>
          </a:xfrm>
          <a:prstGeom prst="rect">
            <a:avLst/>
          </a:prstGeom>
          <a:solidFill>
            <a:srgbClr val="3A1818"/>
          </a:solidFill>
          <a:ln w="6350">
            <a:solidFill>
              <a:srgbClr val="66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5755112" y="3438144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8888"/>
                </a:solidFill>
                <a:latin typeface="Barlow Condensed"/>
              </a:rPr>
              <a:t>GET·POST /api/maintenances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20040" y="3794760"/>
            <a:ext cx="3703320" cy="320040"/>
          </a:xfrm>
          <a:prstGeom prst="rect">
            <a:avLst/>
          </a:prstGeom>
          <a:solidFill>
            <a:srgbClr val="3A1818"/>
          </a:solidFill>
          <a:ln w="6350">
            <a:solidFill>
              <a:srgbClr val="66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93192" y="3831336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8888"/>
                </a:solidFill>
                <a:latin typeface="Barlow Condensed"/>
              </a:rPr>
              <a:t>GET /api/news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160520" y="3794760"/>
            <a:ext cx="3703320" cy="320040"/>
          </a:xfrm>
          <a:prstGeom prst="rect">
            <a:avLst/>
          </a:prstGeom>
          <a:solidFill>
            <a:srgbClr val="3A1818"/>
          </a:solidFill>
          <a:ln w="6350">
            <a:solidFill>
              <a:srgbClr val="66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233672" y="3831336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8888"/>
                </a:solidFill>
                <a:latin typeface="Barlow Condensed"/>
              </a:rPr>
              <a:t>GET /api/motorcycle-models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001000" y="3794760"/>
            <a:ext cx="3703320" cy="320040"/>
          </a:xfrm>
          <a:prstGeom prst="rect">
            <a:avLst/>
          </a:prstGeom>
          <a:solidFill>
            <a:srgbClr val="3A1818"/>
          </a:solidFill>
          <a:ln w="6350">
            <a:solidFill>
              <a:srgbClr val="66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074152" y="3831336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8888"/>
                </a:solidFill>
                <a:latin typeface="Barlow Condensed"/>
              </a:rPr>
              <a:t>POST /api/auth/logout</a:t>
            </a:r>
          </a:p>
        </p:txBody>
      </p:sp>
      <p:sp>
        <p:nvSpPr>
          <p:cNvPr id="49" name="Rectangle 48"/>
          <p:cNvSpPr/>
          <p:nvPr/>
        </p:nvSpPr>
        <p:spPr>
          <a:xfrm>
            <a:off x="11841480" y="3794760"/>
            <a:ext cx="3703320" cy="320040"/>
          </a:xfrm>
          <a:prstGeom prst="rect">
            <a:avLst/>
          </a:prstGeom>
          <a:solidFill>
            <a:srgbClr val="3A1818"/>
          </a:solidFill>
          <a:ln w="6350">
            <a:solidFill>
              <a:srgbClr val="66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1914632" y="3831336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8888"/>
                </a:solidFill>
                <a:latin typeface="Barlow Condensed"/>
              </a:rPr>
              <a:t>GET /api/health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0" y="4507992"/>
            <a:ext cx="121889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AAAAAA"/>
                </a:solidFill>
                <a:latin typeface="Barlow Condensed"/>
              </a:rPr>
              <a:t>▼  Prisma ORM</a:t>
            </a:r>
          </a:p>
        </p:txBody>
      </p:sp>
      <p:sp>
        <p:nvSpPr>
          <p:cNvPr id="52" name="Rectangle 51"/>
          <p:cNvSpPr/>
          <p:nvPr/>
        </p:nvSpPr>
        <p:spPr>
          <a:xfrm>
            <a:off x="201168" y="4736592"/>
            <a:ext cx="11704320" cy="1463040"/>
          </a:xfrm>
          <a:prstGeom prst="rect">
            <a:avLst/>
          </a:prstGeom>
          <a:solidFill>
            <a:srgbClr val="0E2218"/>
          </a:solidFill>
          <a:ln w="9525">
            <a:solidFill>
              <a:srgbClr val="2288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320040" y="4764024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28844"/>
                </a:solidFill>
                <a:latin typeface="Barlow Condensed"/>
              </a:rPr>
              <a:t>COUCHE DONNÉES — PostgreSQL + Prisma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20040" y="5047488"/>
            <a:ext cx="2788920" cy="1005840"/>
          </a:xfrm>
          <a:prstGeom prst="rect">
            <a:avLst/>
          </a:prstGeom>
          <a:solidFill>
            <a:srgbClr val="122E20"/>
          </a:solidFill>
          <a:ln w="6350">
            <a:solidFill>
              <a:srgbClr val="2288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11480" y="5074920"/>
            <a:ext cx="2606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28844"/>
                </a:solidFill>
                <a:latin typeface="Barlow Condensed"/>
              </a:rPr>
              <a:t>User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11480" y="5376672"/>
            <a:ext cx="26060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AAAA"/>
                </a:solidFill>
                <a:latin typeface="Barlow Condensed"/>
              </a:rPr>
              <a:t>id · email · passwordHash · name</a:t>
            </a:r>
          </a:p>
        </p:txBody>
      </p:sp>
      <p:sp>
        <p:nvSpPr>
          <p:cNvPr id="57" name="Rectangle 56"/>
          <p:cNvSpPr/>
          <p:nvPr/>
        </p:nvSpPr>
        <p:spPr>
          <a:xfrm>
            <a:off x="3246120" y="5047488"/>
            <a:ext cx="2788920" cy="1005840"/>
          </a:xfrm>
          <a:prstGeom prst="rect">
            <a:avLst/>
          </a:prstGeom>
          <a:solidFill>
            <a:srgbClr val="122E20"/>
          </a:solidFill>
          <a:ln w="6350">
            <a:solidFill>
              <a:srgbClr val="2288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3337560" y="5074920"/>
            <a:ext cx="2606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28844"/>
                </a:solidFill>
                <a:latin typeface="Barlow Condensed"/>
              </a:rPr>
              <a:t>Motorcycle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337560" y="5376672"/>
            <a:ext cx="26060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AAAA"/>
                </a:solidFill>
                <a:latin typeface="Barlow Condensed"/>
              </a:rPr>
              <a:t>id · brand · model · year · mileage · isPrimary</a:t>
            </a:r>
          </a:p>
        </p:txBody>
      </p:sp>
      <p:sp>
        <p:nvSpPr>
          <p:cNvPr id="60" name="Rectangle 59"/>
          <p:cNvSpPr/>
          <p:nvPr/>
        </p:nvSpPr>
        <p:spPr>
          <a:xfrm>
            <a:off x="6172200" y="5047488"/>
            <a:ext cx="2788920" cy="1005840"/>
          </a:xfrm>
          <a:prstGeom prst="rect">
            <a:avLst/>
          </a:prstGeom>
          <a:solidFill>
            <a:srgbClr val="122E20"/>
          </a:solidFill>
          <a:ln w="6350">
            <a:solidFill>
              <a:srgbClr val="2288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263640" y="5074920"/>
            <a:ext cx="2606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28844"/>
                </a:solidFill>
                <a:latin typeface="Barlow Condensed"/>
              </a:rPr>
              <a:t>Maintenance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263640" y="5376672"/>
            <a:ext cx="26060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AAAA"/>
                </a:solidFill>
                <a:latin typeface="Barlow Condensed"/>
              </a:rPr>
              <a:t>id · type · date · mileage · cost</a:t>
            </a:r>
          </a:p>
        </p:txBody>
      </p:sp>
      <p:sp>
        <p:nvSpPr>
          <p:cNvPr id="63" name="Rectangle 62"/>
          <p:cNvSpPr/>
          <p:nvPr/>
        </p:nvSpPr>
        <p:spPr>
          <a:xfrm>
            <a:off x="9098280" y="5047488"/>
            <a:ext cx="2788920" cy="1005840"/>
          </a:xfrm>
          <a:prstGeom prst="rect">
            <a:avLst/>
          </a:prstGeom>
          <a:solidFill>
            <a:srgbClr val="122E20"/>
          </a:solidFill>
          <a:ln w="6350">
            <a:solidFill>
              <a:srgbClr val="2288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9189720" y="5074920"/>
            <a:ext cx="2606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28844"/>
                </a:solidFill>
                <a:latin typeface="Barlow Condensed"/>
              </a:rPr>
              <a:t>Reminder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9189720" y="5376672"/>
            <a:ext cx="26060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AAAA"/>
                </a:solidFill>
                <a:latin typeface="Barlow Condensed"/>
              </a:rPr>
              <a:t>id · type · thresholdMileage · frequencyMonths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909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64592" y="0"/>
            <a:ext cx="12188952" cy="347472"/>
          </a:xfrm>
          <a:prstGeom prst="rect">
            <a:avLst/>
          </a:prstGeom>
          <a:solidFill>
            <a:srgbClr val="1818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54864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CC0000"/>
                </a:solidFill>
                <a:latin typeface="Barlow Condensed"/>
              </a:rPr>
              <a:t>C1.2.3 — CARTOGRAPHIE DES RISQUES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1168" y="411480"/>
            <a:ext cx="11704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Barlow Condensed"/>
              </a:rPr>
              <a:t>Risques techniques &amp; fonctionnels</a:t>
            </a:r>
          </a:p>
        </p:txBody>
      </p:sp>
      <p:sp>
        <p:nvSpPr>
          <p:cNvPr id="7" name="Rectangle 6"/>
          <p:cNvSpPr/>
          <p:nvPr/>
        </p:nvSpPr>
        <p:spPr>
          <a:xfrm>
            <a:off x="201168" y="1463040"/>
            <a:ext cx="11704320" cy="36576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150876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Barlow Condensed"/>
              </a:rPr>
              <a:t>Risque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37560" y="150876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Barlow Condensed"/>
              </a:rPr>
              <a:t>Catégorie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73168" y="150876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Barlow Condensed"/>
              </a:rPr>
              <a:t>Prob.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0" y="150876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Barlow Condensed"/>
              </a:rPr>
              <a:t>Impact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0" y="15087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Barlow Condensed"/>
              </a:rPr>
              <a:t>Mitigation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01168" y="1874519"/>
            <a:ext cx="11704320" cy="749808"/>
          </a:xfrm>
          <a:prstGeom prst="rect">
            <a:avLst/>
          </a:prstGeom>
          <a:solidFill>
            <a:srgbClr val="1A1A1A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0040" y="1947671"/>
            <a:ext cx="2926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Barlow Condensed"/>
              </a:rPr>
              <a:t>Fuite données utilisateur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337560" y="2039111"/>
            <a:ext cx="1280160" cy="384048"/>
          </a:xfrm>
          <a:prstGeom prst="rect">
            <a:avLst/>
          </a:prstGeom>
          <a:solidFill>
            <a:srgbClr val="1A1A1A"/>
          </a:solidFill>
          <a:ln w="6350">
            <a:solidFill>
              <a:srgbClr val="7777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364992" y="2039111"/>
            <a:ext cx="1234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AAAAAA"/>
                </a:solidFill>
                <a:latin typeface="Barlow Condensed"/>
              </a:rPr>
              <a:t>Sécurité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773168" y="2039111"/>
            <a:ext cx="1051560" cy="384048"/>
          </a:xfrm>
          <a:prstGeom prst="rect">
            <a:avLst/>
          </a:prstGeom>
          <a:solidFill>
            <a:srgbClr val="CC7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91456" y="2039111"/>
            <a:ext cx="1005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Barlow Condensed"/>
              </a:rPr>
              <a:t>Moyen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943600" y="2039111"/>
            <a:ext cx="1051560" cy="384048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61888" y="2039111"/>
            <a:ext cx="1005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Barlow Condensed"/>
              </a:rPr>
              <a:t>Critique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32320" y="1947671"/>
            <a:ext cx="4663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AAAAA"/>
                </a:solidFill>
                <a:latin typeface="Barlow Condensed"/>
              </a:rPr>
              <a:t>JWT httpOnly · HTTPS · bcrypt · Zod · Prisma ORM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01168" y="2679191"/>
            <a:ext cx="11704320" cy="749808"/>
          </a:xfrm>
          <a:prstGeom prst="rect">
            <a:avLst/>
          </a:prstGeom>
          <a:solidFill>
            <a:srgbClr val="1A1A1A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20040" y="2752343"/>
            <a:ext cx="2926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Barlow Condensed"/>
              </a:rPr>
              <a:t>Rupture API Google News RSS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337560" y="2843783"/>
            <a:ext cx="1280160" cy="384048"/>
          </a:xfrm>
          <a:prstGeom prst="rect">
            <a:avLst/>
          </a:prstGeom>
          <a:solidFill>
            <a:srgbClr val="1A1A1A"/>
          </a:solidFill>
          <a:ln w="6350">
            <a:solidFill>
              <a:srgbClr val="7777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364992" y="2843783"/>
            <a:ext cx="1234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AAAAAA"/>
                </a:solidFill>
                <a:latin typeface="Barlow Condensed"/>
              </a:rPr>
              <a:t>Disponibilité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773168" y="2843783"/>
            <a:ext cx="1051560" cy="384048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791456" y="2843783"/>
            <a:ext cx="1005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Barlow Condensed"/>
              </a:rPr>
              <a:t>Élevé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943600" y="2843783"/>
            <a:ext cx="1051560" cy="384048"/>
          </a:xfrm>
          <a:prstGeom prst="rect">
            <a:avLst/>
          </a:prstGeom>
          <a:solidFill>
            <a:srgbClr val="CC7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961888" y="2843783"/>
            <a:ext cx="1005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Barlow Condensed"/>
              </a:rPr>
              <a:t>Modéré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32320" y="2752343"/>
            <a:ext cx="4663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AAAAA"/>
                </a:solidFill>
                <a:latin typeface="Barlow Condensed"/>
              </a:rPr>
              <a:t>Cache serveur · Sources RSS de secours · Erreur gracieuse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01168" y="3483863"/>
            <a:ext cx="11704320" cy="749808"/>
          </a:xfrm>
          <a:prstGeom prst="rect">
            <a:avLst/>
          </a:prstGeom>
          <a:solidFill>
            <a:srgbClr val="1A1A1A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20040" y="3557015"/>
            <a:ext cx="2926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Barlow Condensed"/>
              </a:rPr>
              <a:t>Perte données PostgreSQL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337560" y="3648455"/>
            <a:ext cx="1280160" cy="384048"/>
          </a:xfrm>
          <a:prstGeom prst="rect">
            <a:avLst/>
          </a:prstGeom>
          <a:solidFill>
            <a:srgbClr val="1A1A1A"/>
          </a:solidFill>
          <a:ln w="6350">
            <a:solidFill>
              <a:srgbClr val="7777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364992" y="3648455"/>
            <a:ext cx="1234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AAAAAA"/>
                </a:solidFill>
                <a:latin typeface="Barlow Condensed"/>
              </a:rPr>
              <a:t>Intégrité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773168" y="3648455"/>
            <a:ext cx="1051560" cy="384048"/>
          </a:xfrm>
          <a:prstGeom prst="rect">
            <a:avLst/>
          </a:prstGeom>
          <a:solidFill>
            <a:srgbClr val="2288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791456" y="3648455"/>
            <a:ext cx="1005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Barlow Condensed"/>
              </a:rPr>
              <a:t>Faible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943600" y="3648455"/>
            <a:ext cx="1051560" cy="384048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961888" y="3648455"/>
            <a:ext cx="1005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Barlow Condensed"/>
              </a:rPr>
              <a:t>Critique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132320" y="3557015"/>
            <a:ext cx="4663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AAAAA"/>
                </a:solidFill>
                <a:latin typeface="Barlow Condensed"/>
              </a:rPr>
              <a:t>Backups · Docker volumes persistants · Prisma migrations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01168" y="4288535"/>
            <a:ext cx="11704320" cy="749808"/>
          </a:xfrm>
          <a:prstGeom prst="rect">
            <a:avLst/>
          </a:prstGeom>
          <a:solidFill>
            <a:srgbClr val="1A1A1A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20040" y="4361687"/>
            <a:ext cx="2926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Barlow Condensed"/>
              </a:rPr>
              <a:t>Surcharge serveur (pics trafic)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337560" y="4453127"/>
            <a:ext cx="1280160" cy="384048"/>
          </a:xfrm>
          <a:prstGeom prst="rect">
            <a:avLst/>
          </a:prstGeom>
          <a:solidFill>
            <a:srgbClr val="1A1A1A"/>
          </a:solidFill>
          <a:ln w="6350">
            <a:solidFill>
              <a:srgbClr val="7777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364992" y="4453127"/>
            <a:ext cx="1234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AAAAAA"/>
                </a:solidFill>
                <a:latin typeface="Barlow Condensed"/>
              </a:rPr>
              <a:t>Performance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773168" y="4453127"/>
            <a:ext cx="1051560" cy="384048"/>
          </a:xfrm>
          <a:prstGeom prst="rect">
            <a:avLst/>
          </a:prstGeom>
          <a:solidFill>
            <a:srgbClr val="CC7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791456" y="4453127"/>
            <a:ext cx="1005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Barlow Condensed"/>
              </a:rPr>
              <a:t>Moyen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943600" y="4453127"/>
            <a:ext cx="1051560" cy="384048"/>
          </a:xfrm>
          <a:prstGeom prst="rect">
            <a:avLst/>
          </a:prstGeom>
          <a:solidFill>
            <a:srgbClr val="CC7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961888" y="4453127"/>
            <a:ext cx="1005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Barlow Condensed"/>
              </a:rPr>
              <a:t>Modéré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132320" y="4361687"/>
            <a:ext cx="4663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AAAAA"/>
                </a:solidFill>
                <a:latin typeface="Barlow Condensed"/>
              </a:rPr>
              <a:t>Cache NHTSA 24h · Pagination API · Rate limiting prévu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01168" y="5093207"/>
            <a:ext cx="11704320" cy="749808"/>
          </a:xfrm>
          <a:prstGeom prst="rect">
            <a:avLst/>
          </a:prstGeom>
          <a:solidFill>
            <a:srgbClr val="1A1A1A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20040" y="5166359"/>
            <a:ext cx="2926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Barlow Condensed"/>
              </a:rPr>
              <a:t>Non-conformité RGPD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337560" y="5257799"/>
            <a:ext cx="1280160" cy="384048"/>
          </a:xfrm>
          <a:prstGeom prst="rect">
            <a:avLst/>
          </a:prstGeom>
          <a:solidFill>
            <a:srgbClr val="1A1A1A"/>
          </a:solidFill>
          <a:ln w="6350">
            <a:solidFill>
              <a:srgbClr val="7777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364992" y="5257799"/>
            <a:ext cx="1234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AAAAAA"/>
                </a:solidFill>
                <a:latin typeface="Barlow Condensed"/>
              </a:rPr>
              <a:t>Légal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773168" y="5257799"/>
            <a:ext cx="1051560" cy="384048"/>
          </a:xfrm>
          <a:prstGeom prst="rect">
            <a:avLst/>
          </a:prstGeom>
          <a:solidFill>
            <a:srgbClr val="CC7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791456" y="5257799"/>
            <a:ext cx="1005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Barlow Condensed"/>
              </a:rPr>
              <a:t>Moyen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943600" y="5257799"/>
            <a:ext cx="1051560" cy="384048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5961888" y="5257799"/>
            <a:ext cx="1005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Barlow Condensed"/>
              </a:rPr>
              <a:t>Élevé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132320" y="5166359"/>
            <a:ext cx="4663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AAAAA"/>
                </a:solidFill>
                <a:latin typeface="Barlow Condensed"/>
              </a:rPr>
              <a:t>Suppression compte · Minimisation données · Mentions légales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909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64592" y="0"/>
            <a:ext cx="12188952" cy="347472"/>
          </a:xfrm>
          <a:prstGeom prst="rect">
            <a:avLst/>
          </a:prstGeom>
          <a:solidFill>
            <a:srgbClr val="1818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54864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CC0000"/>
                </a:solidFill>
                <a:latin typeface="Barlow Condensed"/>
              </a:rPr>
              <a:t>C1.3.1 / C1.3.2 — VEILLE &amp; CHOIX TECHNOLOGIQUES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1168" y="411480"/>
            <a:ext cx="11704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Barlow Condensed"/>
              </a:rPr>
              <a:t>Pourquoi cette stack ?</a:t>
            </a:r>
          </a:p>
        </p:txBody>
      </p:sp>
      <p:sp>
        <p:nvSpPr>
          <p:cNvPr id="7" name="Rectangle 6"/>
          <p:cNvSpPr/>
          <p:nvPr/>
        </p:nvSpPr>
        <p:spPr>
          <a:xfrm>
            <a:off x="201168" y="1463040"/>
            <a:ext cx="5760720" cy="2377440"/>
          </a:xfrm>
          <a:prstGeom prst="rect">
            <a:avLst/>
          </a:prstGeom>
          <a:solidFill>
            <a:srgbClr val="222222"/>
          </a:solidFill>
          <a:ln w="9525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38328" y="15544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CC0000"/>
                </a:solidFill>
                <a:latin typeface="Barlow Condensed"/>
              </a:rPr>
              <a:t>Next.js 14
App Router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8328" y="224028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777777"/>
                </a:solidFill>
                <a:latin typeface="Barlow Condensed"/>
              </a:rPr>
              <a:t>vs Nuxt / Remix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8328" y="2514600"/>
            <a:ext cx="5486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100">
                <a:solidFill>
                  <a:srgbClr val="AAAAAA"/>
                </a:solidFill>
                <a:latin typeface="Barlow Condensed"/>
              </a:rPr>
              <a:t>SSR + SSG natif, API Routes intégrées, écosystème React mature. App Router = layouts imbriqués, streaming.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38328" y="3383280"/>
            <a:ext cx="5394960" cy="347472"/>
          </a:xfrm>
          <a:prstGeom prst="rect">
            <a:avLst/>
          </a:prstGeom>
          <a:solidFill>
            <a:srgbClr val="0E2218"/>
          </a:solidFill>
          <a:ln w="6350">
            <a:solidFill>
              <a:srgbClr val="2288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9768" y="3401568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28844"/>
                </a:solidFill>
                <a:latin typeface="Barlow Condensed"/>
              </a:rPr>
              <a:t>🌿  Tree-shaking avancé, bundle minimal, Edge Middleware natif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44768" y="1463040"/>
            <a:ext cx="5760720" cy="2377440"/>
          </a:xfrm>
          <a:prstGeom prst="rect">
            <a:avLst/>
          </a:prstGeom>
          <a:solidFill>
            <a:srgbClr val="222222"/>
          </a:solidFill>
          <a:ln w="9525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81928" y="15544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CC0000"/>
                </a:solidFill>
                <a:latin typeface="Barlow Condensed"/>
              </a:rPr>
              <a:t>PostgreSQL
+ Prisma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81928" y="224028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777777"/>
                </a:solidFill>
                <a:latin typeface="Barlow Condensed"/>
              </a:rPr>
              <a:t>vs MongoDB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81928" y="2514600"/>
            <a:ext cx="5486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100">
                <a:solidFill>
                  <a:srgbClr val="AAAAAA"/>
                </a:solidFill>
                <a:latin typeface="Barlow Condensed"/>
              </a:rPr>
              <a:t>Données relationnelles (User → Moto → Entretien). Prisma = migrations versionnées, type-safe queries.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81928" y="3383280"/>
            <a:ext cx="5394960" cy="347472"/>
          </a:xfrm>
          <a:prstGeom prst="rect">
            <a:avLst/>
          </a:prstGeom>
          <a:solidFill>
            <a:srgbClr val="0E2218"/>
          </a:solidFill>
          <a:ln w="6350">
            <a:solidFill>
              <a:srgbClr val="2288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73368" y="3401568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28844"/>
                </a:solidFill>
                <a:latin typeface="Barlow Condensed"/>
              </a:rPr>
              <a:t>🌿  Requêtes optimisées, indexes automatiques, ACID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01168" y="3977639"/>
            <a:ext cx="5760720" cy="2377440"/>
          </a:xfrm>
          <a:prstGeom prst="rect">
            <a:avLst/>
          </a:prstGeom>
          <a:solidFill>
            <a:srgbClr val="222222"/>
          </a:solidFill>
          <a:ln w="9525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38328" y="4069079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CC0000"/>
                </a:solidFill>
                <a:latin typeface="Barlow Condensed"/>
              </a:rPr>
              <a:t>TypeScript
+ Zod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8328" y="4754879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777777"/>
                </a:solidFill>
                <a:latin typeface="Barlow Condensed"/>
              </a:rPr>
              <a:t>vs JavaScript pur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38328" y="5029199"/>
            <a:ext cx="5486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100">
                <a:solidFill>
                  <a:srgbClr val="AAAAAA"/>
                </a:solidFill>
                <a:latin typeface="Barlow Condensed"/>
              </a:rPr>
              <a:t>Typage statique = moins de bugs runtime. Zod valide les formulaires ET les réponses API avec le même schéma.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38328" y="5897879"/>
            <a:ext cx="5394960" cy="347472"/>
          </a:xfrm>
          <a:prstGeom prst="rect">
            <a:avLst/>
          </a:prstGeom>
          <a:solidFill>
            <a:srgbClr val="0E2218"/>
          </a:solidFill>
          <a:ln w="6350">
            <a:solidFill>
              <a:srgbClr val="2288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29768" y="5916167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28844"/>
                </a:solidFill>
                <a:latin typeface="Barlow Condensed"/>
              </a:rPr>
              <a:t>🌿  Maintenance facilitée, refactoring sûr, autocomplétion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44768" y="3977639"/>
            <a:ext cx="5760720" cy="2377440"/>
          </a:xfrm>
          <a:prstGeom prst="rect">
            <a:avLst/>
          </a:prstGeom>
          <a:solidFill>
            <a:srgbClr val="222222"/>
          </a:solidFill>
          <a:ln w="9525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81928" y="4069079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CC0000"/>
                </a:solidFill>
                <a:latin typeface="Barlow Condensed"/>
              </a:rPr>
              <a:t>shadcn/ui
+ Tailwind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81928" y="4754879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777777"/>
                </a:solidFill>
                <a:latin typeface="Barlow Condensed"/>
              </a:rPr>
              <a:t>vs MUI / Bootstrap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81928" y="5029199"/>
            <a:ext cx="5486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100">
                <a:solidFill>
                  <a:srgbClr val="AAAAAA"/>
                </a:solidFill>
                <a:latin typeface="Barlow Condensed"/>
              </a:rPr>
              <a:t>Composants injectés dans le projet (pas de dépendance externe). Tailwind = CSS minimal, pas de feuille globale.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281928" y="5897879"/>
            <a:ext cx="5394960" cy="347472"/>
          </a:xfrm>
          <a:prstGeom prst="rect">
            <a:avLst/>
          </a:prstGeom>
          <a:solidFill>
            <a:srgbClr val="0E2218"/>
          </a:solidFill>
          <a:ln w="6350">
            <a:solidFill>
              <a:srgbClr val="2288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73368" y="5916167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28844"/>
                </a:solidFill>
                <a:latin typeface="Barlow Condensed"/>
              </a:rPr>
              <a:t>🌿  CSS purgé à 100% en prod, bundle JS réduit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909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64592" y="0"/>
            <a:ext cx="12188952" cy="347472"/>
          </a:xfrm>
          <a:prstGeom prst="rect">
            <a:avLst/>
          </a:prstGeom>
          <a:solidFill>
            <a:srgbClr val="1818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54864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CC0000"/>
                </a:solidFill>
                <a:latin typeface="Barlow Condensed"/>
              </a:rPr>
              <a:t>C1.4.1 — FONCTIONNALITÉS &amp; ESTIMATION DE CHARGE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1168" y="411480"/>
            <a:ext cx="11704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Barlow Condensed"/>
              </a:rPr>
              <a:t>Périmètre fonctionnel</a:t>
            </a:r>
          </a:p>
        </p:txBody>
      </p:sp>
      <p:sp>
        <p:nvSpPr>
          <p:cNvPr id="7" name="Rectangle 6"/>
          <p:cNvSpPr/>
          <p:nvPr/>
        </p:nvSpPr>
        <p:spPr>
          <a:xfrm>
            <a:off x="201168" y="1463040"/>
            <a:ext cx="3749039" cy="4663440"/>
          </a:xfrm>
          <a:prstGeom prst="rect">
            <a:avLst/>
          </a:prstGeom>
          <a:solidFill>
            <a:srgbClr val="222222"/>
          </a:solidFill>
          <a:ln w="9525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01168" y="1463040"/>
            <a:ext cx="3749039" cy="347472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92608" y="1499616"/>
            <a:ext cx="356615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Barlow Condensed"/>
              </a:rPr>
              <a:t>PRINCIPALE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55847" y="1920240"/>
            <a:ext cx="502920" cy="347472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55847" y="1938528"/>
            <a:ext cx="502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Barlow Condensed"/>
              </a:rPr>
              <a:t>3 j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2608" y="1956816"/>
            <a:ext cx="297179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AAAAA"/>
                </a:solidFill>
                <a:latin typeface="Barlow Condensed"/>
              </a:rPr>
              <a:t>Authentification JWT (register/login/logout)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355847" y="2926080"/>
            <a:ext cx="502920" cy="347472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355847" y="2944368"/>
            <a:ext cx="502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Barlow Condensed"/>
              </a:rPr>
              <a:t>5 j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2608" y="2962656"/>
            <a:ext cx="297179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AAAAA"/>
                </a:solidFill>
                <a:latin typeface="Barlow Condensed"/>
              </a:rPr>
              <a:t>Gestion garage : wizard 3 étapes, liste, isPrimary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355847" y="3931920"/>
            <a:ext cx="502920" cy="347472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355847" y="3950208"/>
            <a:ext cx="502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Barlow Condensed"/>
              </a:rPr>
              <a:t>4 j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2608" y="3968496"/>
            <a:ext cx="297179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AAAAA"/>
                </a:solidFill>
                <a:latin typeface="Barlow Condensed"/>
              </a:rPr>
              <a:t>Historique maintenances (CRUD + 7 types)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355847" y="4937760"/>
            <a:ext cx="502920" cy="347472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355847" y="4956048"/>
            <a:ext cx="502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Barlow Condensed"/>
              </a:rPr>
              <a:t>3 j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92608" y="4974336"/>
            <a:ext cx="297179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AAAAA"/>
                </a:solidFill>
                <a:latin typeface="Barlow Condensed"/>
              </a:rPr>
              <a:t>Tableau de bord utilisateur (données réelles)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069079" y="1463040"/>
            <a:ext cx="3749039" cy="4663440"/>
          </a:xfrm>
          <a:prstGeom prst="rect">
            <a:avLst/>
          </a:prstGeom>
          <a:solidFill>
            <a:srgbClr val="222222"/>
          </a:solidFill>
          <a:ln w="9525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069079" y="1463040"/>
            <a:ext cx="3749039" cy="347472"/>
          </a:xfrm>
          <a:prstGeom prst="rect">
            <a:avLst/>
          </a:prstGeom>
          <a:solidFill>
            <a:srgbClr val="2255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160519" y="1499616"/>
            <a:ext cx="356615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Barlow Condensed"/>
              </a:rPr>
              <a:t>SECONDAIRE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223758" y="1920240"/>
            <a:ext cx="502920" cy="347472"/>
          </a:xfrm>
          <a:prstGeom prst="rect">
            <a:avLst/>
          </a:prstGeom>
          <a:solidFill>
            <a:srgbClr val="2255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223758" y="1938528"/>
            <a:ext cx="502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Barlow Condensed"/>
              </a:rPr>
              <a:t>2 j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60519" y="1956816"/>
            <a:ext cx="297179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AAAAA"/>
                </a:solidFill>
                <a:latin typeface="Barlow Condensed"/>
              </a:rPr>
              <a:t>Page actualités (4 flux RSS Google News)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223758" y="2926080"/>
            <a:ext cx="502920" cy="347472"/>
          </a:xfrm>
          <a:prstGeom prst="rect">
            <a:avLst/>
          </a:prstGeom>
          <a:solidFill>
            <a:srgbClr val="2255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223758" y="2944368"/>
            <a:ext cx="502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Barlow Condensed"/>
              </a:rPr>
              <a:t>2 j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160519" y="2962656"/>
            <a:ext cx="297179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AAAAA"/>
                </a:solidFill>
                <a:latin typeface="Barlow Condensed"/>
              </a:rPr>
              <a:t>Recherche pièces (eBay/LBC/Amazon/Google)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223758" y="3931920"/>
            <a:ext cx="502920" cy="347472"/>
          </a:xfrm>
          <a:prstGeom prst="rect">
            <a:avLst/>
          </a:prstGeom>
          <a:solidFill>
            <a:srgbClr val="2255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223758" y="3950208"/>
            <a:ext cx="502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Barlow Condensed"/>
              </a:rPr>
              <a:t>1 j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160519" y="3968496"/>
            <a:ext cx="297179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AAAAA"/>
                </a:solidFill>
                <a:latin typeface="Barlow Condensed"/>
              </a:rPr>
              <a:t>Météo (API externe wttr.in)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223758" y="4937760"/>
            <a:ext cx="502920" cy="347472"/>
          </a:xfrm>
          <a:prstGeom prst="rect">
            <a:avLst/>
          </a:prstGeom>
          <a:solidFill>
            <a:srgbClr val="2255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223758" y="4956048"/>
            <a:ext cx="502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Barlow Condensed"/>
              </a:rPr>
              <a:t>2 j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160519" y="4974336"/>
            <a:ext cx="297179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AAAAA"/>
                </a:solidFill>
                <a:latin typeface="Barlow Condensed"/>
              </a:rPr>
              <a:t>Autocomplete modèles NHTSA (cache 24h)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936990" y="1463040"/>
            <a:ext cx="3749039" cy="4663440"/>
          </a:xfrm>
          <a:prstGeom prst="rect">
            <a:avLst/>
          </a:prstGeom>
          <a:solidFill>
            <a:srgbClr val="222222"/>
          </a:solidFill>
          <a:ln w="9525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936990" y="1463040"/>
            <a:ext cx="3749039" cy="347472"/>
          </a:xfrm>
          <a:prstGeom prst="rect">
            <a:avLst/>
          </a:prstGeom>
          <a:solidFill>
            <a:srgbClr val="2288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028430" y="1499616"/>
            <a:ext cx="356615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Barlow Condensed"/>
              </a:rPr>
              <a:t>COMPLÉMENTAIRE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1091669" y="1920240"/>
            <a:ext cx="502920" cy="347472"/>
          </a:xfrm>
          <a:prstGeom prst="rect">
            <a:avLst/>
          </a:prstGeom>
          <a:solidFill>
            <a:srgbClr val="2288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1091669" y="1938528"/>
            <a:ext cx="502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Barlow Condensed"/>
              </a:rPr>
              <a:t>3 j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028430" y="1956816"/>
            <a:ext cx="297179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AAAAA"/>
                </a:solidFill>
                <a:latin typeface="Barlow Condensed"/>
              </a:rPr>
              <a:t>Landing page 3D (Ducati V4R / Three.js)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1091669" y="2926080"/>
            <a:ext cx="502920" cy="347472"/>
          </a:xfrm>
          <a:prstGeom prst="rect">
            <a:avLst/>
          </a:prstGeom>
          <a:solidFill>
            <a:srgbClr val="2288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1091669" y="2944368"/>
            <a:ext cx="502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Barlow Condensed"/>
              </a:rPr>
              <a:t>1 j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028430" y="2962656"/>
            <a:ext cx="297179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AAAAA"/>
                </a:solidFill>
                <a:latin typeface="Barlow Condensed"/>
              </a:rPr>
              <a:t>Immatriculation auto-formatée SIV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1091669" y="3931920"/>
            <a:ext cx="502920" cy="347472"/>
          </a:xfrm>
          <a:prstGeom prst="rect">
            <a:avLst/>
          </a:prstGeom>
          <a:solidFill>
            <a:srgbClr val="2288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1091669" y="3950208"/>
            <a:ext cx="502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Barlow Condensed"/>
              </a:rPr>
              <a:t>1 j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028430" y="3968496"/>
            <a:ext cx="297179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AAAAA"/>
                </a:solidFill>
                <a:latin typeface="Barlow Condensed"/>
              </a:rPr>
              <a:t>27 marques + drapeaux (dont 12 chinoises)</a:t>
            </a:r>
          </a:p>
        </p:txBody>
      </p:sp>
      <p:sp>
        <p:nvSpPr>
          <p:cNvPr id="49" name="Rectangle 48"/>
          <p:cNvSpPr/>
          <p:nvPr/>
        </p:nvSpPr>
        <p:spPr>
          <a:xfrm>
            <a:off x="11091669" y="4937760"/>
            <a:ext cx="502920" cy="347472"/>
          </a:xfrm>
          <a:prstGeom prst="rect">
            <a:avLst/>
          </a:prstGeom>
          <a:solidFill>
            <a:srgbClr val="2288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1091669" y="4956048"/>
            <a:ext cx="502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Barlow Condensed"/>
              </a:rPr>
              <a:t>2 j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028430" y="4974336"/>
            <a:ext cx="297179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AAAAA"/>
                </a:solidFill>
                <a:latin typeface="Barlow Condensed"/>
              </a:rPr>
              <a:t>Tests unitaires Jest + CI/CD GitHub Actions</a:t>
            </a:r>
          </a:p>
        </p:txBody>
      </p:sp>
      <p:sp>
        <p:nvSpPr>
          <p:cNvPr id="52" name="Rectangle 51"/>
          <p:cNvSpPr/>
          <p:nvPr/>
        </p:nvSpPr>
        <p:spPr>
          <a:xfrm>
            <a:off x="201168" y="6309360"/>
            <a:ext cx="11704320" cy="411480"/>
          </a:xfrm>
          <a:prstGeom prst="rect">
            <a:avLst/>
          </a:prstGeom>
          <a:solidFill>
            <a:srgbClr val="181818"/>
          </a:solidFill>
          <a:ln w="9525">
            <a:solidFill>
              <a:srgbClr val="CC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320040" y="632764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AAAAA"/>
                </a:solidFill>
                <a:latin typeface="Barlow Condensed"/>
              </a:rPr>
              <a:t>CHARGE TOTALE ESTIMÉE : 29 jours/homme  •  Soit ~6 semaines à temps plein  •  Équipe : 5 personnes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909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64592" y="0"/>
            <a:ext cx="12188952" cy="347472"/>
          </a:xfrm>
          <a:prstGeom prst="rect">
            <a:avLst/>
          </a:prstGeom>
          <a:solidFill>
            <a:srgbClr val="1818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54864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CC0000"/>
                </a:solidFill>
                <a:latin typeface="Barlow Condensed"/>
              </a:rPr>
              <a:t>C1.4.2 — BUDGET PRÉVISIONNEL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1168" y="411480"/>
            <a:ext cx="11704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Barlow Condensed"/>
              </a:rPr>
              <a:t>Estimation financière du projet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536192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AAAA"/>
                </a:solidFill>
                <a:latin typeface="Barlow Condensed"/>
              </a:rPr>
              <a:t>Développement (29 j × 350 €)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0" y="1554480"/>
            <a:ext cx="5303520" cy="347472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795760" y="1554480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Barlow Condensed"/>
              </a:rPr>
              <a:t>10 150 €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" y="2221992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AAAA"/>
                </a:solidFill>
                <a:latin typeface="Barlow Condensed"/>
              </a:rPr>
              <a:t>Infrastructure cloud (Vercel + Supabase / an)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0" y="2240280"/>
            <a:ext cx="868905" cy="347472"/>
          </a:xfrm>
          <a:prstGeom prst="rect">
            <a:avLst/>
          </a:prstGeom>
          <a:solidFill>
            <a:srgbClr val="2255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61145" y="2240280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Barlow Condensed"/>
              </a:rPr>
              <a:t>1 200 €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" y="2907792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AAAA"/>
                </a:solidFill>
                <a:latin typeface="Barlow Condensed"/>
              </a:rPr>
              <a:t>Licences &amp; outils (domaine, fonts, CDN)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0" y="2926080"/>
            <a:ext cx="447740" cy="347472"/>
          </a:xfrm>
          <a:prstGeom prst="rect">
            <a:avLst/>
          </a:prstGeom>
          <a:solidFill>
            <a:srgbClr val="CC7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39980" y="2926080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Barlow Condensed"/>
              </a:rPr>
              <a:t>350 €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" y="3593592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AAAA"/>
                </a:solidFill>
                <a:latin typeface="Barlow Condensed"/>
              </a:rPr>
              <a:t>Tests &amp; recette (3 j × 350 €)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0" y="3611880"/>
            <a:ext cx="794582" cy="347472"/>
          </a:xfrm>
          <a:prstGeom prst="rect">
            <a:avLst/>
          </a:prstGeom>
          <a:solidFill>
            <a:srgbClr val="2288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286822" y="3611880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Barlow Condensed"/>
              </a:rPr>
              <a:t>1 050 €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0040" y="4279392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AAAA"/>
                </a:solidFill>
                <a:latin typeface="Barlow Condensed"/>
              </a:rPr>
              <a:t>Réserve risques (15%)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0" y="4297680"/>
            <a:ext cx="1215746" cy="347472"/>
          </a:xfrm>
          <a:prstGeom prst="rect">
            <a:avLst/>
          </a:prstGeom>
          <a:solidFill>
            <a:srgbClr val="7777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07986" y="4297680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Barlow Condensed"/>
              </a:rPr>
              <a:t>1 900 €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0040" y="4965192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AAAA"/>
                </a:solidFill>
                <a:latin typeface="Barlow Condensed"/>
              </a:rPr>
              <a:t>Documentation &amp; livraison (1 j)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0" y="4983480"/>
            <a:ext cx="447740" cy="347472"/>
          </a:xfrm>
          <a:prstGeom prst="rect">
            <a:avLst/>
          </a:prstGeom>
          <a:solidFill>
            <a:srgbClr val="884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939980" y="4983480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Barlow Condensed"/>
              </a:rPr>
              <a:t>350 €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01168" y="6035040"/>
            <a:ext cx="11704320" cy="594360"/>
          </a:xfrm>
          <a:prstGeom prst="rect">
            <a:avLst/>
          </a:prstGeom>
          <a:solidFill>
            <a:srgbClr val="181818"/>
          </a:solidFill>
          <a:ln w="19050">
            <a:solidFill>
              <a:srgbClr val="CC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20040" y="608076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Barlow Condensed"/>
              </a:rPr>
              <a:t>BUDGET TOTAL PRÉVISIONNEL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0" y="6035040"/>
            <a:ext cx="3474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3200" b="1" i="0">
                <a:solidFill>
                  <a:srgbClr val="CC0000"/>
                </a:solidFill>
                <a:latin typeface="Barlow Condensed"/>
              </a:rPr>
              <a:t>15 000 €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909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64592" y="0"/>
            <a:ext cx="12188952" cy="347472"/>
          </a:xfrm>
          <a:prstGeom prst="rect">
            <a:avLst/>
          </a:prstGeom>
          <a:solidFill>
            <a:srgbClr val="1818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54864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CC0000"/>
                </a:solidFill>
                <a:latin typeface="Barlow Condensed"/>
              </a:rPr>
              <a:t>C1.6 — PRÉCONISATION &amp; ARGUMENTATION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1168" y="411480"/>
            <a:ext cx="11704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Barlow Condensed"/>
              </a:rPr>
              <a:t>Recommandations &amp; prochaines étapes</a:t>
            </a:r>
          </a:p>
        </p:txBody>
      </p:sp>
      <p:sp>
        <p:nvSpPr>
          <p:cNvPr id="7" name="Rectangle 6"/>
          <p:cNvSpPr/>
          <p:nvPr/>
        </p:nvSpPr>
        <p:spPr>
          <a:xfrm>
            <a:off x="201168" y="1463040"/>
            <a:ext cx="3749039" cy="4663440"/>
          </a:xfrm>
          <a:prstGeom prst="rect">
            <a:avLst/>
          </a:prstGeom>
          <a:solidFill>
            <a:srgbClr val="222222"/>
          </a:solidFill>
          <a:ln w="9525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01168" y="1463040"/>
            <a:ext cx="3749039" cy="347472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92608" y="1499616"/>
            <a:ext cx="356615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Barlow Condensed"/>
              </a:rPr>
              <a:t>Phase 1 — 0 à 2 mois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8328" y="1938528"/>
            <a:ext cx="3474719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150">
                <a:solidFill>
                  <a:srgbClr val="AAAAAA"/>
                </a:solidFill>
                <a:latin typeface="Barlow Condensed"/>
              </a:rPr>
              <a:t>Déploiement Vercel + Supabase (PostgreSQL managé)</a:t>
            </a:r>
          </a:p>
          <a:p>
            <a:pPr>
              <a:spcBef>
                <a:spcPts val="300"/>
              </a:spcBef>
            </a:pPr>
            <a:r>
              <a:rPr sz="1150">
                <a:solidFill>
                  <a:srgbClr val="AAAAAA"/>
                </a:solidFill>
                <a:latin typeface="Barlow Condensed"/>
              </a:rPr>
              <a:t>HTTPS + headers sécurité (CSP, HSTS, X-Frame)</a:t>
            </a:r>
          </a:p>
          <a:p>
            <a:pPr>
              <a:spcBef>
                <a:spcPts val="300"/>
              </a:spcBef>
            </a:pPr>
            <a:r>
              <a:rPr sz="1150">
                <a:solidFill>
                  <a:srgbClr val="AAAAAA"/>
                </a:solidFill>
                <a:latin typeface="Barlow Condensed"/>
              </a:rPr>
              <a:t>Tests E2E Playwright sur parcours critiques</a:t>
            </a:r>
          </a:p>
          <a:p>
            <a:pPr>
              <a:spcBef>
                <a:spcPts val="300"/>
              </a:spcBef>
            </a:pPr>
            <a:r>
              <a:rPr sz="1150">
                <a:solidFill>
                  <a:srgbClr val="AAAAAA"/>
                </a:solidFill>
                <a:latin typeface="Barlow Condensed"/>
              </a:rPr>
              <a:t>Conformité RGPD — mentions légales + suppression compte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069079" y="1463040"/>
            <a:ext cx="3749039" cy="4663440"/>
          </a:xfrm>
          <a:prstGeom prst="rect">
            <a:avLst/>
          </a:prstGeom>
          <a:solidFill>
            <a:srgbClr val="222222"/>
          </a:solidFill>
          <a:ln w="9525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069079" y="1463040"/>
            <a:ext cx="3749039" cy="347472"/>
          </a:xfrm>
          <a:prstGeom prst="rect">
            <a:avLst/>
          </a:prstGeom>
          <a:solidFill>
            <a:srgbClr val="2255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60519" y="1499616"/>
            <a:ext cx="356615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Barlow Condensed"/>
              </a:rPr>
              <a:t>Phase 2 — 2 à 4 mois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06239" y="1938528"/>
            <a:ext cx="3474719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150">
                <a:solidFill>
                  <a:srgbClr val="AAAAAA"/>
                </a:solidFill>
                <a:latin typeface="Barlow Condensed"/>
              </a:rPr>
              <a:t>OAuth Google/Apple en complément JWT</a:t>
            </a:r>
          </a:p>
          <a:p>
            <a:pPr>
              <a:spcBef>
                <a:spcPts val="300"/>
              </a:spcBef>
            </a:pPr>
            <a:r>
              <a:rPr sz="1150">
                <a:solidFill>
                  <a:srgbClr val="AAAAAA"/>
                </a:solidFill>
                <a:latin typeface="Barlow Condensed"/>
              </a:rPr>
              <a:t>Notifications push rappels maintenance (PWA)</a:t>
            </a:r>
          </a:p>
          <a:p>
            <a:pPr>
              <a:spcBef>
                <a:spcPts val="300"/>
              </a:spcBef>
            </a:pPr>
            <a:r>
              <a:rPr sz="1150">
                <a:solidFill>
                  <a:srgbClr val="AAAAAA"/>
                </a:solidFill>
                <a:latin typeface="Barlow Condensed"/>
              </a:rPr>
              <a:t>Mode hors-ligne garage (Service Worker)</a:t>
            </a:r>
          </a:p>
          <a:p>
            <a:pPr>
              <a:spcBef>
                <a:spcPts val="300"/>
              </a:spcBef>
            </a:pPr>
            <a:r>
              <a:rPr sz="1150">
                <a:solidFill>
                  <a:srgbClr val="AAAAAA"/>
                </a:solidFill>
                <a:latin typeface="Barlow Condensed"/>
              </a:rPr>
              <a:t>Export PDF carnet d'entretien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936990" y="1463040"/>
            <a:ext cx="3749039" cy="4663440"/>
          </a:xfrm>
          <a:prstGeom prst="rect">
            <a:avLst/>
          </a:prstGeom>
          <a:solidFill>
            <a:srgbClr val="222222"/>
          </a:solidFill>
          <a:ln w="9525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936990" y="1463040"/>
            <a:ext cx="3749039" cy="347472"/>
          </a:xfrm>
          <a:prstGeom prst="rect">
            <a:avLst/>
          </a:prstGeom>
          <a:solidFill>
            <a:srgbClr val="2288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28430" y="1499616"/>
            <a:ext cx="356615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Barlow Condensed"/>
              </a:rPr>
              <a:t>Phase 3 — 4 à 6 mois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74150" y="1938528"/>
            <a:ext cx="3474719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150">
                <a:solidFill>
                  <a:srgbClr val="AAAAAA"/>
                </a:solidFill>
                <a:latin typeface="Barlow Condensed"/>
              </a:rPr>
              <a:t>Application mobile React Native (partage de code)</a:t>
            </a:r>
          </a:p>
          <a:p>
            <a:pPr>
              <a:spcBef>
                <a:spcPts val="300"/>
              </a:spcBef>
            </a:pPr>
            <a:r>
              <a:rPr sz="1150">
                <a:solidFill>
                  <a:srgbClr val="AAAAAA"/>
                </a:solidFill>
                <a:latin typeface="Barlow Condensed"/>
              </a:rPr>
              <a:t>Monétisation : plan premium (multi-garage, export)</a:t>
            </a:r>
          </a:p>
          <a:p>
            <a:pPr>
              <a:spcBef>
                <a:spcPts val="300"/>
              </a:spcBef>
            </a:pPr>
            <a:r>
              <a:rPr sz="1150">
                <a:solidFill>
                  <a:srgbClr val="AAAAAA"/>
                </a:solidFill>
                <a:latin typeface="Barlow Condensed"/>
              </a:rPr>
              <a:t>Analytics usage anonymisé (Plausible.io)</a:t>
            </a:r>
          </a:p>
          <a:p>
            <a:pPr>
              <a:spcBef>
                <a:spcPts val="300"/>
              </a:spcBef>
            </a:pPr>
            <a:r>
              <a:rPr sz="1150">
                <a:solidFill>
                  <a:srgbClr val="AAAAAA"/>
                </a:solidFill>
                <a:latin typeface="Barlow Condensed"/>
              </a:rPr>
              <a:t>Recherche full-text PostgreSQL sur les entretiens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01168" y="6309360"/>
            <a:ext cx="11704320" cy="411480"/>
          </a:xfrm>
          <a:prstGeom prst="rect">
            <a:avLst/>
          </a:prstGeom>
          <a:solidFill>
            <a:srgbClr val="181818"/>
          </a:solidFill>
          <a:ln w="9525">
            <a:solidFill>
              <a:srgbClr val="CC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20040" y="632764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AAAAA"/>
                </a:solidFill>
                <a:latin typeface="Barlow Condensed"/>
              </a:rPr>
              <a:t>MotoHub Pro est une solution viable, différenciante et maintenable. Next.js + Prisma + PostgreSQL offre un rapport qualité/coût/performance optimal.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909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731520"/>
            <a:ext cx="11731752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0" b="1" i="0">
                <a:solidFill>
                  <a:srgbClr val="FFFFFF"/>
                </a:solidFill>
                <a:latin typeface="Barlow Condensed"/>
              </a:rPr>
              <a:t>MotoHub Pro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2468880"/>
            <a:ext cx="117317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AAAAAA"/>
                </a:solidFill>
                <a:latin typeface="Barlow Condensed"/>
              </a:rPr>
              <a:t>Une application pensée pour les passionnés de moto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3108960"/>
            <a:ext cx="2468880" cy="1463040"/>
          </a:xfrm>
          <a:prstGeom prst="rect">
            <a:avLst/>
          </a:prstGeom>
          <a:solidFill>
            <a:srgbClr val="1A1A1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3154680"/>
            <a:ext cx="2468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CC0000"/>
                </a:solidFill>
                <a:latin typeface="Barlow Condensed"/>
              </a:rPr>
              <a:t>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886200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AAAAAA"/>
                </a:solidFill>
                <a:latin typeface="Barlow Condensed"/>
              </a:rPr>
              <a:t>Pages Next.js</a:t>
            </a:r>
          </a:p>
        </p:txBody>
      </p:sp>
      <p:sp>
        <p:nvSpPr>
          <p:cNvPr id="10" name="Rectangle 9"/>
          <p:cNvSpPr/>
          <p:nvPr/>
        </p:nvSpPr>
        <p:spPr>
          <a:xfrm>
            <a:off x="3429000" y="3108960"/>
            <a:ext cx="2468880" cy="1463040"/>
          </a:xfrm>
          <a:prstGeom prst="rect">
            <a:avLst/>
          </a:prstGeom>
          <a:solidFill>
            <a:srgbClr val="1A1A1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29000" y="3154680"/>
            <a:ext cx="2468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CC0000"/>
                </a:solidFill>
                <a:latin typeface="Barlow Condensed"/>
              </a:rPr>
              <a:t>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29000" y="3886200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AAAAAA"/>
                </a:solidFill>
                <a:latin typeface="Barlow Condensed"/>
              </a:rPr>
              <a:t>API endpoints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26480" y="3108960"/>
            <a:ext cx="2468880" cy="1463040"/>
          </a:xfrm>
          <a:prstGeom prst="rect">
            <a:avLst/>
          </a:prstGeom>
          <a:solidFill>
            <a:srgbClr val="1A1A1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26480" y="3154680"/>
            <a:ext cx="2468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CC0000"/>
                </a:solidFill>
                <a:latin typeface="Barlow Condensed"/>
              </a:rPr>
              <a:t>29 j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26480" y="3886200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AAAAAA"/>
                </a:solidFill>
                <a:latin typeface="Barlow Condensed"/>
              </a:rPr>
              <a:t>Charge estimée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823960" y="3108960"/>
            <a:ext cx="2468880" cy="1463040"/>
          </a:xfrm>
          <a:prstGeom prst="rect">
            <a:avLst/>
          </a:prstGeom>
          <a:solidFill>
            <a:srgbClr val="1A1A1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823960" y="3154680"/>
            <a:ext cx="2468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CC0000"/>
                </a:solidFill>
                <a:latin typeface="Barlow Condensed"/>
              </a:rPr>
              <a:t>15k€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23960" y="3886200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AAAAAA"/>
                </a:solidFill>
                <a:latin typeface="Barlow Condensed"/>
              </a:rPr>
              <a:t>Budget prévu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4320" y="4846320"/>
            <a:ext cx="117317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Barlow Condensed"/>
              </a:rPr>
              <a:t>Merci pour votre attention — Questions ?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0" y="5486400"/>
            <a:ext cx="3017520" cy="54864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